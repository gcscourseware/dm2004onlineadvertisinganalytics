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627" autoAdjust="0"/>
  </p:normalViewPr>
  <p:slideViewPr>
    <p:cSldViewPr snapToGrid="0">
      <p:cViewPr>
        <p:scale>
          <a:sx n="75" d="100"/>
          <a:sy n="75" d="100"/>
        </p:scale>
        <p:origin x="32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F5F8-9ABC-F671-2B5C-227186297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94E78-19E7-245C-E6AB-DB148A4B8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3D5F1-ADE5-9346-968E-C0893F0B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EF005-6CB8-F16C-5509-9599442E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D3182-E212-AA8C-1384-D640CF7F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123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5607-5B66-DEB5-657C-4ED98C1A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6B0A-694C-0BA6-1580-7119F09ED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4A64D-7C0B-02C7-2E80-30D66E7D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29BC-9D06-E6EC-B36C-28637DE98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924E-B313-037D-286A-6D843D44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047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337E-365A-7B8C-1BC2-3C806055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60BCD-B511-CEB0-10E0-DDAAE9896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BB67-717A-F994-513B-96FA2F02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B5ED7-3601-D9A6-B9A5-E3EF5F1A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868AA-E7CF-DBF7-5E02-17221C42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348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08BC4-BFF2-0985-D90E-A73B03A0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1CE6-D4C2-D377-9A00-78F27FEA7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CCBC2-8B46-412D-E56A-DBA91E1E3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E0782-4FF5-0396-28C6-096F9F43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0D5D4-75DB-665B-E61E-603BC54D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82C33-29FC-C359-5324-4F14E6FD6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1561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5684-BD19-A647-BE5D-8748BF82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19155-FDDF-7391-75CB-286D74B29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D0C15-EC68-220C-0F42-22F039885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4A27B-C35A-12C8-16A5-78E8BEEE3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4FD70-8A79-F4D7-1B88-1AAC11933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23A94-023F-488E-C0EA-265C04B7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0AAF5-7070-8BEB-5B1A-1EFA04314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C5EF5-2513-13EB-D878-82CF56D0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156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B070-CE96-61F5-99C7-8E068084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CE468-70C6-A7BE-CC36-D757192E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F4BED-0F14-C3E6-1577-DC0F05A5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974FB-DE78-B8CD-7A8C-B13FA658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47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75B3C-758D-DCBF-017F-D865D913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E42BF-4863-D5A8-3DB3-43FFBBAB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3744E-995C-89D8-1198-C843AAE7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77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CEDA-07C6-2E97-542E-F72694F0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01B0-6F95-CDB3-0576-624C210E7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1EFB4-E842-C372-5ABE-7E437385E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A8C71-62D6-83A0-6713-97B712D3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2588E-11CB-0AFA-20D0-DD1E3C8D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5B63E-6D68-632F-15FD-E8381407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683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CD013-A29B-5113-C57F-20B8F029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32C40-B957-C939-DE69-98BB371CD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C374-5EE8-B331-7DFB-1044C0D8D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D4285-801E-C31B-2CC6-DC44B6E5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784AD-CAE4-D684-470B-0B1CA64C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C1F8B-E37F-DDCF-3627-183FA602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032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2087-D110-0673-F7FD-5BAF5043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EF244-D862-48F0-93A9-FB8077486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1F32-D66E-A43C-2E09-9BC562B1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3E6E-4BE5-7FDF-0D76-F6C28387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51ED2-9F3C-E19A-5E11-C71BF311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645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DF500C-F8FF-5141-3619-00506F12E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73466-B21C-8FC2-5FD5-E5514B8F4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3AFFA-2A81-0EC6-2FB6-87272543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9D0C-ABC7-9467-E888-AA160BBA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60EFA-9C92-E04D-8647-BAE268D7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453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D623B-6A9C-9A47-1BAE-B5D791CF4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212FE-23B2-B65D-955C-BAF28F689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06AC-5033-A0F6-DD09-745E19123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4A53D-9EB5-4461-A723-77AA479DC610}" type="datetimeFigureOut">
              <a:rPr lang="en-SG" smtClean="0"/>
              <a:t>12/2/2026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D195-B6B3-511B-937A-C2E933F98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87CD2-39C0-DA22-0A7C-9A256D831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4A9EE-35AE-4B81-B115-C0CD0DE713E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689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724B-3D71-67D4-98CB-704DFF041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Keyword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7F3C4-AE3F-F25C-6571-6A2D6D410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Macky Sports Apparel and Accessories</a:t>
            </a:r>
          </a:p>
        </p:txBody>
      </p:sp>
    </p:spTree>
    <p:extLst>
      <p:ext uri="{BB962C8B-B14F-4D97-AF65-F5344CB8AC3E}">
        <p14:creationId xmlns:p14="http://schemas.microsoft.com/office/powerpoint/2010/main" val="3586908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0BA4-63C2-0C2D-096E-C00DA7A3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Branded Keywords (High Intent)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29A7-7FB7-24A5-F463-9DF047763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i="1" dirty="0"/>
              <a:t>Protect your brand and capture users looking specifically for you.</a:t>
            </a:r>
            <a:endParaRPr lang="en-SG" sz="3200" dirty="0"/>
          </a:p>
          <a:p>
            <a:pPr lvl="0"/>
            <a:r>
              <a:rPr lang="en-SG" sz="3200" b="1" dirty="0"/>
              <a:t>Keywords:</a:t>
            </a:r>
            <a:r>
              <a:rPr lang="en-SG" sz="3200" dirty="0"/>
              <a:t> Macky Sports apparel, Macky Sports accessories, Macky Sports online shop, Macky performance gear.</a:t>
            </a:r>
          </a:p>
          <a:p>
            <a:pPr lvl="0"/>
            <a:r>
              <a:rPr lang="en-SG" sz="3200" b="1" dirty="0"/>
              <a:t>Why:</a:t>
            </a:r>
            <a:r>
              <a:rPr lang="en-SG" sz="3200" dirty="0"/>
              <a:t> These usually have the lowest Cost-Per-Click (CPC) and the highest conversion rates.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585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4ED0-1C5F-5A2B-7563-A5E68FBC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High-Intent "Product + Action" (The Money Makers)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6579-B08D-F7F4-1162-E9943AFF9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i="1" dirty="0"/>
              <a:t>Target users who know what they want and are ready to purchase.</a:t>
            </a:r>
            <a:endParaRPr lang="en-SG" sz="3200" dirty="0"/>
          </a:p>
          <a:p>
            <a:pPr lvl="0"/>
            <a:r>
              <a:rPr lang="en-SG" sz="3200" b="1" dirty="0"/>
              <a:t>Keywords:</a:t>
            </a:r>
            <a:r>
              <a:rPr lang="en-SG" sz="3200" dirty="0"/>
              <a:t> buy performance leggings online, breathable gym tops for men, premium athletic shorts, professional sports accessories, durable gym bags.</a:t>
            </a:r>
          </a:p>
          <a:p>
            <a:pPr lvl="0"/>
            <a:r>
              <a:rPr lang="en-SG" sz="3200" b="1" dirty="0"/>
              <a:t>Pro Tip:</a:t>
            </a:r>
            <a:r>
              <a:rPr lang="en-SG" sz="3200" dirty="0"/>
              <a:t> Use "Match Types" here. Use </a:t>
            </a:r>
            <a:r>
              <a:rPr lang="en-SG" sz="3200" b="1" dirty="0"/>
              <a:t>[Exact Match]</a:t>
            </a:r>
            <a:r>
              <a:rPr lang="en-SG" sz="3200" dirty="0"/>
              <a:t> for specific products to keep costs down and </a:t>
            </a:r>
            <a:r>
              <a:rPr lang="en-SG" sz="3200" b="1" dirty="0"/>
              <a:t>"Phrase Match"</a:t>
            </a:r>
            <a:r>
              <a:rPr lang="en-SG" sz="3200" dirty="0"/>
              <a:t> for broader variations.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2893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7A32-9087-26B3-3519-70DB17E4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Trend &amp; Aesthetic Keywords (Top of Funnel)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F65FA-285A-90AD-7CF6-79971EEA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i="1" dirty="0"/>
              <a:t>Capitalize on 2026 trends like "Workleisure" and "Soft Sports."</a:t>
            </a:r>
            <a:endParaRPr lang="en-SG" sz="3200" dirty="0"/>
          </a:p>
          <a:p>
            <a:pPr lvl="0"/>
            <a:r>
              <a:rPr lang="en-SG" sz="3200" b="1" dirty="0"/>
              <a:t>Keywords:</a:t>
            </a:r>
            <a:r>
              <a:rPr lang="en-SG" sz="3200" dirty="0"/>
              <a:t> workleisure outfits 2026, soft sports yoga wear, sustainable athletic apparel, gorpcore hiking gear, athleisure sets for women.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420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1251-8D97-E198-8783-AFA29633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Competitor Conquesting (The "Steal")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55F97-507D-04B2-E572-7E8C611D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i="1" dirty="0"/>
              <a:t>Bid on terms related to your rivals to offer a better alternative.</a:t>
            </a:r>
            <a:endParaRPr lang="en-SG" sz="3200" dirty="0"/>
          </a:p>
          <a:p>
            <a:pPr lvl="0"/>
            <a:r>
              <a:rPr lang="en-SG" sz="3200" b="1" dirty="0"/>
              <a:t>Keywords:</a:t>
            </a:r>
            <a:r>
              <a:rPr lang="en-SG" sz="3200" dirty="0"/>
              <a:t> alternatives to Nike sportswear, Under Armour vs Macky Sports, best premium gym brands 2026.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721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09DFE-043B-D20F-BBCC-FB630312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The Keyword Organization Table</a:t>
            </a:r>
            <a:br>
              <a:rPr lang="en-SG" dirty="0"/>
            </a:b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763476-ABF9-32FD-D2DB-B077A28B5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581431"/>
              </p:ext>
            </p:extLst>
          </p:nvPr>
        </p:nvGraphicFramePr>
        <p:xfrm>
          <a:off x="993732" y="1418693"/>
          <a:ext cx="9252556" cy="46231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3139">
                  <a:extLst>
                    <a:ext uri="{9D8B030D-6E8A-4147-A177-3AD203B41FA5}">
                      <a16:colId xmlns:a16="http://schemas.microsoft.com/office/drawing/2014/main" val="1405168164"/>
                    </a:ext>
                  </a:extLst>
                </a:gridCol>
                <a:gridCol w="2313139">
                  <a:extLst>
                    <a:ext uri="{9D8B030D-6E8A-4147-A177-3AD203B41FA5}">
                      <a16:colId xmlns:a16="http://schemas.microsoft.com/office/drawing/2014/main" val="1121842973"/>
                    </a:ext>
                  </a:extLst>
                </a:gridCol>
                <a:gridCol w="2313139">
                  <a:extLst>
                    <a:ext uri="{9D8B030D-6E8A-4147-A177-3AD203B41FA5}">
                      <a16:colId xmlns:a16="http://schemas.microsoft.com/office/drawing/2014/main" val="2071896031"/>
                    </a:ext>
                  </a:extLst>
                </a:gridCol>
                <a:gridCol w="2313139">
                  <a:extLst>
                    <a:ext uri="{9D8B030D-6E8A-4147-A177-3AD203B41FA5}">
                      <a16:colId xmlns:a16="http://schemas.microsoft.com/office/drawing/2014/main" val="3404119939"/>
                    </a:ext>
                  </a:extLst>
                </a:gridCol>
              </a:tblGrid>
              <a:tr h="3510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Ad Group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Keyword Examples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Match Type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Goal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extLst>
                  <a:ext uri="{0D108BD9-81ED-4DB2-BD59-A6C34878D82A}">
                    <a16:rowId xmlns:a16="http://schemas.microsoft.com/office/drawing/2014/main" val="3423921962"/>
                  </a:ext>
                </a:extLst>
              </a:tr>
              <a:tr h="1025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Core Performance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performance athletic wear, high-impact sports gear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"Phrase"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Quality traffic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extLst>
                  <a:ext uri="{0D108BD9-81ED-4DB2-BD59-A6C34878D82A}">
                    <a16:rowId xmlns:a16="http://schemas.microsoft.com/office/drawing/2014/main" val="1840655720"/>
                  </a:ext>
                </a:extLst>
              </a:tr>
              <a:tr h="1025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New Arrivals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2026 sports apparel trends, new gym clothing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Broad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Awareness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extLst>
                  <a:ext uri="{0D108BD9-81ED-4DB2-BD59-A6C34878D82A}">
                    <a16:rowId xmlns:a16="http://schemas.microsoft.com/office/drawing/2014/main" val="2238362913"/>
                  </a:ext>
                </a:extLst>
              </a:tr>
              <a:tr h="1025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Specific Products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[Macky sports compression socks], [Macky gym towels]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[Exact]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Low-cost sales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extLst>
                  <a:ext uri="{0D108BD9-81ED-4DB2-BD59-A6C34878D82A}">
                    <a16:rowId xmlns:a16="http://schemas.microsoft.com/office/drawing/2014/main" val="124564156"/>
                  </a:ext>
                </a:extLst>
              </a:tr>
              <a:tr h="10255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Luxury/Premium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premium activewear, designer sports accessories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"Phrase"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High-Value Customers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73" marR="15273" marT="15273" marB="15273" anchor="ctr"/>
                </a:tc>
                <a:extLst>
                  <a:ext uri="{0D108BD9-81ED-4DB2-BD59-A6C34878D82A}">
                    <a16:rowId xmlns:a16="http://schemas.microsoft.com/office/drawing/2014/main" val="205830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02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3FF6-D82F-473A-50D4-47E9F75A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8DB6-DD37-A29A-DF2B-34FA8A62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The Keyword Organization Table</a:t>
            </a:r>
            <a:br>
              <a:rPr lang="en-SG" dirty="0"/>
            </a:br>
            <a:endParaRPr lang="en-S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8B104F-6307-33E3-E93A-0385A114A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367229"/>
              </p:ext>
            </p:extLst>
          </p:nvPr>
        </p:nvGraphicFramePr>
        <p:xfrm>
          <a:off x="1001038" y="1440922"/>
          <a:ext cx="8017700" cy="4211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4425">
                  <a:extLst>
                    <a:ext uri="{9D8B030D-6E8A-4147-A177-3AD203B41FA5}">
                      <a16:colId xmlns:a16="http://schemas.microsoft.com/office/drawing/2014/main" val="2662013306"/>
                    </a:ext>
                  </a:extLst>
                </a:gridCol>
                <a:gridCol w="2004425">
                  <a:extLst>
                    <a:ext uri="{9D8B030D-6E8A-4147-A177-3AD203B41FA5}">
                      <a16:colId xmlns:a16="http://schemas.microsoft.com/office/drawing/2014/main" val="3977457863"/>
                    </a:ext>
                  </a:extLst>
                </a:gridCol>
                <a:gridCol w="2004425">
                  <a:extLst>
                    <a:ext uri="{9D8B030D-6E8A-4147-A177-3AD203B41FA5}">
                      <a16:colId xmlns:a16="http://schemas.microsoft.com/office/drawing/2014/main" val="779170043"/>
                    </a:ext>
                  </a:extLst>
                </a:gridCol>
                <a:gridCol w="2004425">
                  <a:extLst>
                    <a:ext uri="{9D8B030D-6E8A-4147-A177-3AD203B41FA5}">
                      <a16:colId xmlns:a16="http://schemas.microsoft.com/office/drawing/2014/main" val="1757888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New Arrivals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2026 sports apparel trends, new gym clothing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Broad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Awareness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102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Specific Products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[Macky sports compression socks], [Macky gym towels]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[Exact]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Low-cost sales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0845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>
                          <a:effectLst/>
                        </a:rPr>
                        <a:t>Luxury/Premium</a:t>
                      </a:r>
                      <a:endParaRPr lang="en-SG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premium activewear, designer sports accessories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"Phrase"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2000" kern="100" dirty="0">
                          <a:effectLst/>
                        </a:rPr>
                        <a:t>High-Value Customers</a:t>
                      </a:r>
                      <a:endParaRPr lang="en-SG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5388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47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7EAE-921E-C0C9-8206-04D84E95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b="1" dirty="0"/>
              <a:t>Negative Keywords (The "Waste Preventers")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CF1C-891C-CD70-F1D4-2C64444D9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3200" i="1" dirty="0"/>
              <a:t>Add these to your "Negative Keyword List" to ensure your ad doesn't show up for the wrong searches:</a:t>
            </a:r>
            <a:endParaRPr lang="en-SG" sz="3200" dirty="0"/>
          </a:p>
          <a:p>
            <a:pPr lvl="0"/>
            <a:r>
              <a:rPr lang="en-SG" sz="3200" dirty="0"/>
              <a:t>free, cheap, jobs, hiring, second hand, used, repair, wholesale (unless you sell B2B).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7186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3A0C8-FCE2-2976-E8A9-43577455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Keyword Structure and Match Type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CFDCF5-B75B-A294-0483-3783038F6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1913"/>
              </p:ext>
            </p:extLst>
          </p:nvPr>
        </p:nvGraphicFramePr>
        <p:xfrm>
          <a:off x="992340" y="1690688"/>
          <a:ext cx="10361460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730">
                  <a:extLst>
                    <a:ext uri="{9D8B030D-6E8A-4147-A177-3AD203B41FA5}">
                      <a16:colId xmlns:a16="http://schemas.microsoft.com/office/drawing/2014/main" val="2500630101"/>
                    </a:ext>
                  </a:extLst>
                </a:gridCol>
                <a:gridCol w="5180730">
                  <a:extLst>
                    <a:ext uri="{9D8B030D-6E8A-4147-A177-3AD203B41FA5}">
                      <a16:colId xmlns:a16="http://schemas.microsoft.com/office/drawing/2014/main" val="1963657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sz="2800" dirty="0"/>
                        <a:t>Keyword Match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8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68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400" dirty="0"/>
                        <a:t>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Your Ad appears on queries that exactly match the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400" dirty="0"/>
                        <a:t>Phrase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Your Ad appears on queries that include your keyword in the same order, but the queries can contain words before and after the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2400" dirty="0"/>
                        <a:t>Broad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2400" dirty="0"/>
                        <a:t>Your Ad appears on queries with the same meaning as your keyword, even if a query lacks your keyword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64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022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468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Keyword Research</vt:lpstr>
      <vt:lpstr>Branded Keywords (High Intent)</vt:lpstr>
      <vt:lpstr>High-Intent "Product + Action" (The Money Makers) </vt:lpstr>
      <vt:lpstr>Trend &amp; Aesthetic Keywords (Top of Funnel) </vt:lpstr>
      <vt:lpstr>Competitor Conquesting (The "Steal")</vt:lpstr>
      <vt:lpstr>The Keyword Organization Table </vt:lpstr>
      <vt:lpstr>The Keyword Organization Table </vt:lpstr>
      <vt:lpstr>Negative Keywords (The "Waste Preventers") </vt:lpstr>
      <vt:lpstr>Keyword Structure and Match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6</cp:revision>
  <dcterms:created xsi:type="dcterms:W3CDTF">2026-02-12T01:30:28Z</dcterms:created>
  <dcterms:modified xsi:type="dcterms:W3CDTF">2026-02-12T05:48:34Z</dcterms:modified>
</cp:coreProperties>
</file>
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4" r:id="rId13"/>
    <p:sldId id="285" r:id="rId14"/>
    <p:sldId id="286" r:id="rId15"/>
    <p:sldId id="288" r:id="rId16"/>
    <p:sldId id="287" r:id="rId17"/>
    <p:sldId id="283" r:id="rId18"/>
    <p:sldId id="289" r:id="rId19"/>
    <p:sldId id="290" r:id="rId20"/>
    <p:sldId id="291" r:id="rId2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173F44-263E-4C98-AEF9-58D510D67274}">
  <a:tblStyle styleId="{31173F44-263E-4C98-AEF9-58D510D6727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008D42F-285E-4E69-8E08-8C67F41422C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60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bc5105b04d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3bc5105b04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A18D6BF-84F7-40C6-722B-43A930F16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77FC3468-CC63-88C8-4A2F-5B6FDDD0C8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83A6486C-CA0C-19E9-86AD-F804EDB16C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598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11BDD3D-AF4F-3080-7E32-8495C0B0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389C936E-D8DF-2E1C-C2AC-F25B31EE60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867B2160-109B-3CA8-B051-E392A947AE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1111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23331E4A-792D-D8E5-6738-C63B65E38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935BD3D5-144E-C5F3-1379-0575AF6E7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50D5B7C2-CE6B-6E71-ED9D-DB5E68DA0F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1153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D0AA267E-C869-F826-C395-8FF398E1F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1B2D5211-85BD-C738-A190-79ECC79395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E430A79E-D180-3128-92B6-0A344CCB91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9062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62AD6AC8-62E2-7175-8FA9-0EE179F11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0D9A4734-BCD1-9783-8EBC-4640439B74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BCA1395A-3FD9-CAA2-BC1D-CAD2970B5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0306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78F6B3E2-51F1-AD23-0FA7-4D89E805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16DADD3-A489-8E9A-091A-CC699D11A8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97C8E6A0-BB2B-AE7A-6732-A7AB1D073B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02619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27B7ADE-ED72-25B0-5ADC-33845AE2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4F1DAF8C-C4C0-3EA6-33FB-35703206BD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E14FE9F7-233F-6218-3DE6-393EC0746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8148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C7F86DCB-616D-C969-27A2-65F517F9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F42D037E-FD0F-E2D8-3FEA-DCEE5361A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3DE6F372-9379-B7FF-3224-AA6C18A3D2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45356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62588595-02F9-7CC3-CDFA-A7DA2A8C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9A29A7AD-5E67-7979-BE55-305FD3FD7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223951B2-A41C-8500-8DE8-6383473A1C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2625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1B2297E-85C7-0DA3-FC2C-432A071CF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B74393CE-A149-527D-4C54-45CC141358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EF9D8371-C000-48D6-6496-25E853C10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83238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82510C10-4329-2BAB-A3EE-4A2C5233A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A24CD05B-3F01-8A89-4B12-F7FF885746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252E1A03-6B34-ED95-B4F7-3373E3B5D8A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6341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A36FEA9E-79A4-33E6-C2F2-2DDC7CFF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2A02B45E-1F9C-D7F4-1146-CB94EF778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0A2B153F-696E-7A71-EB28-86E163C44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30239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511CD8FE-9E99-F2E5-21F2-7322AFBB3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2B0BDDB1-2429-9F1A-F90A-F14DF3C12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798CAEB2-D489-47F3-EEDC-7E3FC46D0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96292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C9A07F62-4B9F-1294-1006-95D91BA86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120C5462-A8F3-08D5-6610-CDB6C65665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74D9221D-B837-74CD-8F69-6B669E1B9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99277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10F61004-6254-1450-4EE9-BE48EEFBA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9EE15524-8E0B-BC4A-B217-59EFCA957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FED5F563-3C16-67FC-317B-9A118DEB4B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4469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439D9752-8BCF-3DFA-876B-886BFF0BD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C4C36331-8348-DFDB-EDD5-45F13AC3E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6A73C0A7-DB8A-5F83-B2C1-613DAE439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91343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BC0531FB-AB74-46BB-7A69-68C1510D7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5B9FD7C-AECC-62D5-221F-7DAD3A57F4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FF28BA24-1878-3CD8-B9EA-3AB1460D9B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92135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>
          <a:extLst>
            <a:ext uri="{FF2B5EF4-FFF2-40B4-BE49-F238E27FC236}">
              <a16:creationId xmlns:a16="http://schemas.microsoft.com/office/drawing/2014/main" id="{E75CE12A-0272-2DBD-B971-FB7FE42DF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5105b04d_0_95:notes">
            <a:extLst>
              <a:ext uri="{FF2B5EF4-FFF2-40B4-BE49-F238E27FC236}">
                <a16:creationId xmlns:a16="http://schemas.microsoft.com/office/drawing/2014/main" id="{D8E9BD10-1FF1-EC5F-D007-76DD2F3BC0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bc5105b04d_0_95:notes">
            <a:extLst>
              <a:ext uri="{FF2B5EF4-FFF2-40B4-BE49-F238E27FC236}">
                <a16:creationId xmlns:a16="http://schemas.microsoft.com/office/drawing/2014/main" id="{6CCC691F-1D45-E002-F98E-DD081648F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6478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marL="914400" lvl="1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8976090" y="-1"/>
            <a:ext cx="0" cy="5143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3"/>
          <p:cNvSpPr/>
          <p:nvPr/>
        </p:nvSpPr>
        <p:spPr>
          <a:xfrm rot="-5400000">
            <a:off x="6531094" y="2519850"/>
            <a:ext cx="5143500" cy="103800"/>
          </a:xfrm>
          <a:prstGeom prst="rect">
            <a:avLst/>
          </a:prstGeom>
          <a:gradFill>
            <a:gsLst>
              <a:gs pos="0">
                <a:srgbClr val="213F76"/>
              </a:gs>
              <a:gs pos="50000">
                <a:srgbClr val="2F5CAB"/>
              </a:gs>
              <a:gs pos="100000">
                <a:srgbClr val="3A6FCD"/>
              </a:gs>
            </a:gsLst>
            <a:lin ang="5400012" scaled="0"/>
          </a:gra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13" descr="A picture containing clipart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09092" y="139304"/>
            <a:ext cx="1023643" cy="55341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 rot="-5400000">
            <a:off x="-2362350" y="2362350"/>
            <a:ext cx="5143500" cy="418800"/>
          </a:xfrm>
          <a:prstGeom prst="rect">
            <a:avLst/>
          </a:prstGeom>
          <a:gradFill>
            <a:gsLst>
              <a:gs pos="0">
                <a:srgbClr val="213F76"/>
              </a:gs>
              <a:gs pos="50000">
                <a:srgbClr val="2F5CAB"/>
              </a:gs>
              <a:gs pos="100000">
                <a:srgbClr val="3A6FCD"/>
              </a:gs>
            </a:gsLst>
            <a:lin ang="5400012" scaled="0"/>
          </a:gradFill>
          <a:ln w="9525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4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DM2004 Online Advertising and Analytics</a:t>
            </a: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my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www.brightmind.com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ctrTitle"/>
          </p:nvPr>
        </p:nvSpPr>
        <p:spPr>
          <a:xfrm>
            <a:off x="1143000" y="532924"/>
            <a:ext cx="6858000" cy="14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my" sz="3000" b="1" dirty="0"/>
              <a:t>DM</a:t>
            </a:r>
            <a:r>
              <a:rPr lang="en-SG" sz="3000" b="1" dirty="0"/>
              <a:t>2004</a:t>
            </a:r>
            <a:r>
              <a:rPr lang="my" sz="3000" b="1" dirty="0"/>
              <a:t> </a:t>
            </a:r>
            <a:r>
              <a:rPr lang="en-SG" sz="3000" b="1" dirty="0"/>
              <a:t>Online Advertising and Analytics </a:t>
            </a:r>
            <a:br>
              <a:rPr lang="my" sz="3000" b="1" dirty="0"/>
            </a:br>
            <a:endParaRPr sz="3000" b="1" dirty="0"/>
          </a:p>
        </p:txBody>
      </p:sp>
      <p:graphicFrame>
        <p:nvGraphicFramePr>
          <p:cNvPr id="65" name="Google Shape;65;p14"/>
          <p:cNvGraphicFramePr/>
          <p:nvPr>
            <p:extLst>
              <p:ext uri="{D42A27DB-BD31-4B8C-83A1-F6EECF244321}">
                <p14:modId xmlns:p14="http://schemas.microsoft.com/office/powerpoint/2010/main" val="3590667365"/>
              </p:ext>
            </p:extLst>
          </p:nvPr>
        </p:nvGraphicFramePr>
        <p:xfrm>
          <a:off x="985157" y="2447488"/>
          <a:ext cx="7447400" cy="792750"/>
        </p:xfrm>
        <a:graphic>
          <a:graphicData uri="http://schemas.openxmlformats.org/drawingml/2006/table">
            <a:tbl>
              <a:tblPr firstRow="1" bandRow="1">
                <a:noFill/>
                <a:tableStyleId>{31173F44-263E-4C98-AEF9-58D510D67274}</a:tableStyleId>
              </a:tblPr>
              <a:tblGrid>
                <a:gridCol w="744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7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SG" sz="2700" b="0" u="none" strike="noStrike" cap="none" dirty="0"/>
                        <a:t>Assignment</a:t>
                      </a:r>
                      <a:endParaRPr sz="1100" dirty="0"/>
                    </a:p>
                  </a:txBody>
                  <a:tcPr marL="68600" marR="6860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6" name="Google Shape;66;p14"/>
          <p:cNvGraphicFramePr/>
          <p:nvPr>
            <p:extLst>
              <p:ext uri="{D42A27DB-BD31-4B8C-83A1-F6EECF244321}">
                <p14:modId xmlns:p14="http://schemas.microsoft.com/office/powerpoint/2010/main" val="2330073032"/>
              </p:ext>
            </p:extLst>
          </p:nvPr>
        </p:nvGraphicFramePr>
        <p:xfrm>
          <a:off x="985156" y="3493305"/>
          <a:ext cx="7447375" cy="708680"/>
        </p:xfrm>
        <a:graphic>
          <a:graphicData uri="http://schemas.openxmlformats.org/drawingml/2006/table">
            <a:tbl>
              <a:tblPr firstRow="1" bandRow="1">
                <a:noFill/>
                <a:tableStyleId>{31173F44-263E-4C98-AEF9-58D510D67274}</a:tableStyleId>
              </a:tblPr>
              <a:tblGrid>
                <a:gridCol w="47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y" sz="1400" b="1" u="none" strike="noStrike" cap="none" dirty="0">
                          <a:solidFill>
                            <a:schemeClr val="dk1"/>
                          </a:solidFill>
                        </a:rPr>
                        <a:t>Student Name:</a:t>
                      </a:r>
                      <a:endParaRPr lang="en-SG" sz="1400" b="1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y" sz="1400" b="1" dirty="0">
                          <a:solidFill>
                            <a:schemeClr val="dk1"/>
                          </a:solidFill>
                        </a:rPr>
                        <a:t>Student NRIC / FIN No.</a:t>
                      </a:r>
                      <a:endParaRPr sz="1100" dirty="0"/>
                    </a:p>
                  </a:txBody>
                  <a:tcPr marL="68600" marR="68600" marT="34300" marB="3430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y" sz="1400" dirty="0">
                          <a:solidFill>
                            <a:schemeClr val="dk1"/>
                          </a:solidFill>
                        </a:rPr>
                        <a:t>Date:</a:t>
                      </a:r>
                      <a:endParaRPr sz="1100" dirty="0"/>
                    </a:p>
                  </a:txBody>
                  <a:tcPr marL="68600" marR="68600" marT="34300" marB="34300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</a:pPr>
            <a:r>
              <a:rPr lang="en-SG" dirty="0"/>
              <a:t>Campaign Level Activity 1/7</a:t>
            </a:r>
            <a:endParaRPr dirty="0"/>
          </a:p>
        </p:txBody>
      </p:sp>
      <p:pic>
        <p:nvPicPr>
          <p:cNvPr id="172" name="Google Shape;172;p31"/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/>
          <p:cNvSpPr txBox="1"/>
          <p:nvPr/>
        </p:nvSpPr>
        <p:spPr>
          <a:xfrm>
            <a:off x="737375" y="134698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Objective Setup as per required in the scenario </a:t>
            </a:r>
            <a:endParaRPr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CAAB0F7A-32DD-A360-4E16-4965E1ACE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9EB95302-DFB2-C994-E101-E9D454F59E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9150" y="24691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2/7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5D4E80CC-678B-2701-C3D4-2E3308142E8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3840BED0-4F4F-9FED-963A-8A8A0B1D519C}"/>
              </a:ext>
            </a:extLst>
          </p:cNvPr>
          <p:cNvSpPr txBox="1"/>
          <p:nvPr/>
        </p:nvSpPr>
        <p:spPr>
          <a:xfrm>
            <a:off x="737375" y="134698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Type Setting as per required in the Scenario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869416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0D381C7A-A1BB-A652-C4ED-1C3F7414E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780380D3-9FB6-15F3-C0B9-BAC3FAD6B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375" y="29424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3/7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E342D116-C565-4217-770E-75512739B8C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F2BE48F9-EA5F-0F8E-8141-B8A662677DAB}"/>
              </a:ext>
            </a:extLst>
          </p:cNvPr>
          <p:cNvSpPr txBox="1"/>
          <p:nvPr/>
        </p:nvSpPr>
        <p:spPr>
          <a:xfrm>
            <a:off x="737375" y="134698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Goal (</a:t>
            </a:r>
            <a:r>
              <a:rPr lang="en-SG" sz="1600" b="1" dirty="0"/>
              <a:t>Note: Just provide a dummy Singapore Phone number/Not a real one</a:t>
            </a:r>
            <a:r>
              <a:rPr lang="en-SG" sz="1600" dirty="0"/>
              <a:t>)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26050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3E374174-2CE0-C06C-6A4F-87F7329A2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F6DD628B-07DC-C3C1-1964-5CD76F956A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375" y="29424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4/7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96589844-A21F-178D-A908-5D7BACA5BAD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A38CC359-41C5-8E79-A093-BB7A25759E29}"/>
              </a:ext>
            </a:extLst>
          </p:cNvPr>
          <p:cNvSpPr txBox="1"/>
          <p:nvPr/>
        </p:nvSpPr>
        <p:spPr>
          <a:xfrm>
            <a:off x="737375" y="134698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Name as per required in the Scenario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131418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85778E6-031E-282D-D3AA-08C352AF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D7AAB66A-0527-EF6F-970F-77DA15F014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37375" y="294242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5/7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044098EB-778D-2E0D-B44C-BAEAE3EBC4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72108" y="546413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6AD5D01F-7BFB-1B4E-04B4-2D1CF0F54045}"/>
              </a:ext>
            </a:extLst>
          </p:cNvPr>
          <p:cNvSpPr txBox="1"/>
          <p:nvPr/>
        </p:nvSpPr>
        <p:spPr>
          <a:xfrm>
            <a:off x="737375" y="1130721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Bidding Strategy as per required in the scenario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4083335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235E013-4258-29D6-B92A-10A60825F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41B0DC09-5343-5715-2BFA-E37BA217C7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6/7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D0D89062-FCB5-FA3D-8A4F-B4C1907BE2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0A15E4CE-5772-C905-C311-9490A640A0C0}"/>
              </a:ext>
            </a:extLst>
          </p:cNvPr>
          <p:cNvSpPr txBox="1"/>
          <p:nvPr/>
        </p:nvSpPr>
        <p:spPr>
          <a:xfrm>
            <a:off x="682825" y="741739"/>
            <a:ext cx="7778100" cy="807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Campaign Settings (Network: Google Search Network Display Only (Exclude Display) Location: Singapore, Language: English) as per required in the scenario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472614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40235F83-1700-61EF-3720-E2CC321F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34356EDE-215E-D981-DAFD-A3146F6FE7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6/7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CCC16F11-91FF-15A0-11DD-B6E83901DB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01262989-CCAF-B7F9-6510-F3D586762553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Audience Segment [Parents of Teens (12-17 years)]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260539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D4AFF25B-D433-69FA-CADA-39100F47F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D1FEB986-2BB4-B864-277F-6C20BD6066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Campaign Level Activity 7/7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42E27563-5D7B-F803-BC77-795115C219B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04492019-680C-7367-3BCD-8ABB1D858FA9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Rotation (Optimize) and More Settings (Start Date: February 28, 2026, Ad Schedule: All Day))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469758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6A22596-7A2C-E641-C0F9-8F588153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587EFF8D-3BCC-4AC0-AD18-C3534C9F4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1/7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CAAAC840-F0C3-1A5A-BA31-0EA269BDB5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9C9AC063-8C71-30CD-9108-115BD39DC194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Group 1 Name as per required in the Scenario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956772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471886E-117D-4D61-7CF6-1170914E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88D9B6CB-08C3-0E1A-C33F-8AB779CE11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2/7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89C50A60-ACD0-1ED4-FE70-D5CF1AD0B2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B007A0FD-B667-BB75-53EE-266A6E3EB272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Group 1 Keywords and the Campaign Optimization Score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605118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A040F11-58FC-0C58-F8E6-09AD44D23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1B48B092-A8ED-D448-368E-3E85F07BEC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3/7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8F5CE1D3-5256-B8C5-E4CF-30BE0FA693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5DE82FE7-0D2C-3405-05A3-AFCA9FF0ABE6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Matching Type of Ad Group 1 Keywords (2 Phrase Match, 2 Exact Match and 1 Broad Match) as per required in the scenario 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00186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C4376025-E691-60C4-8E9D-9FA706ED3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96A5F09D-645B-CCAE-B549-1A44D42E5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4/7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2AEBF48E-CCC2-9D75-1FC8-63641C6CA9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1BC07289-5929-783C-CF6E-1E4C94C6BB2D}"/>
              </a:ext>
            </a:extLst>
          </p:cNvPr>
          <p:cNvSpPr txBox="1"/>
          <p:nvPr/>
        </p:nvSpPr>
        <p:spPr>
          <a:xfrm>
            <a:off x="682825" y="74173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Group 2 Name as per required in the Scenario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4028092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7F7EE16D-4DB9-7A06-C388-9D2DBE4A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515C6343-7481-47A0-4AE2-836EEDAAFF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5/7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B0E31CDB-FC59-2E29-B2AC-F0C984D094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C34CD698-39A7-E596-8BA8-44FD80A830AD}"/>
              </a:ext>
            </a:extLst>
          </p:cNvPr>
          <p:cNvSpPr txBox="1"/>
          <p:nvPr/>
        </p:nvSpPr>
        <p:spPr>
          <a:xfrm>
            <a:off x="682825" y="811538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Group 2 Keyword Settings as per required in the Scenario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302254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AF5B1952-A6DB-D600-C10C-3CCC99E0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8053B39F-D13E-2C90-7118-6A53FF6F9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6/7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204B09BE-98E0-821E-FF32-04A388C91FF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8626491F-EF0B-ADE3-5438-00BE0BE3C43E}"/>
              </a:ext>
            </a:extLst>
          </p:cNvPr>
          <p:cNvSpPr txBox="1"/>
          <p:nvPr/>
        </p:nvSpPr>
        <p:spPr>
          <a:xfrm>
            <a:off x="682825" y="74173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Group 2 Negative keywords set-up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676071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1C64CC5-5569-59C9-3C5C-DD6C1C1D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0A5F78D7-2554-84DA-6DE6-A9D0840122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Group Level Activity 7/7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533BE4DF-FAAF-40EF-669F-B36872E270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4D72BDBC-3690-DA1A-29DE-548D67985311}"/>
              </a:ext>
            </a:extLst>
          </p:cNvPr>
          <p:cNvSpPr txBox="1"/>
          <p:nvPr/>
        </p:nvSpPr>
        <p:spPr>
          <a:xfrm>
            <a:off x="682825" y="74173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Ad Group 1 and Ad Group 2 Lists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291640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7BB33F4-E329-2EA4-1FD7-1D37DD1A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9B6E043F-98FC-78CC-134B-7CC068213D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Level Activity 1/4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4F9949CE-4FD0-CF14-3172-2A9F8960223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166F136C-C36E-5037-61F6-26AF4242FC65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Level (Final URL: </a:t>
            </a:r>
            <a:r>
              <a:rPr lang="en-SG" sz="1600" dirty="0">
                <a:hlinkClick r:id="rId4"/>
              </a:rPr>
              <a:t>https://www.brightmind.com</a:t>
            </a:r>
            <a:r>
              <a:rPr lang="en-SG" sz="1600" dirty="0"/>
              <a:t>, Call No.: 86571111)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752934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2A75DE40-5A51-45CC-109A-232CE910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C28C32FA-51A6-73C6-CB09-7A25C2A91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Level Activity 2/4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72D46E4F-4A02-FD34-1261-123992C3E9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A8654914-28EB-149F-93CD-768D012ED4AC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Level (3 Headlines: 1 Headline with location (Singapore), 1 Headline with benefit, 1 Headline with CTA)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605083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121197F7-146A-F27C-B565-893555029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48A6F1B3-ADD0-BA5D-0A2C-74EE9E4B3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Level Activity 3/4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70D4DE8F-77FA-3163-A317-5AA614559B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3C899D3A-42F1-631E-8234-A330DAC46C97}"/>
              </a:ext>
            </a:extLst>
          </p:cNvPr>
          <p:cNvSpPr txBox="1"/>
          <p:nvPr/>
        </p:nvSpPr>
        <p:spPr>
          <a:xfrm>
            <a:off x="682825" y="741739"/>
            <a:ext cx="7778100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Level (2 Descriptions: 1 description with value proposition, 1 description with CTA)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13890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>
          <a:extLst>
            <a:ext uri="{FF2B5EF4-FFF2-40B4-BE49-F238E27FC236}">
              <a16:creationId xmlns:a16="http://schemas.microsoft.com/office/drawing/2014/main" id="{65622909-BCF2-8C60-5861-37AD770C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>
            <a:extLst>
              <a:ext uri="{FF2B5EF4-FFF2-40B4-BE49-F238E27FC236}">
                <a16:creationId xmlns:a16="http://schemas.microsoft.com/office/drawing/2014/main" id="{61FC313E-8127-FE35-E8E7-2C824FB0C0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3075" y="-45137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lvl="0"/>
            <a:r>
              <a:rPr lang="en-SG" dirty="0"/>
              <a:t>Ad Level Activity 4/4</a:t>
            </a:r>
            <a:endParaRPr dirty="0"/>
          </a:p>
        </p:txBody>
      </p:sp>
      <p:pic>
        <p:nvPicPr>
          <p:cNvPr id="172" name="Google Shape;172;p31">
            <a:extLst>
              <a:ext uri="{FF2B5EF4-FFF2-40B4-BE49-F238E27FC236}">
                <a16:creationId xmlns:a16="http://schemas.microsoft.com/office/drawing/2014/main" id="{8112AA52-6690-B71F-B1EE-5DE12D2B2B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441" t="21126" r="5209" b="8570"/>
          <a:stretch/>
        </p:blipFill>
        <p:spPr>
          <a:xfrm>
            <a:off x="5853058" y="103372"/>
            <a:ext cx="622578" cy="489858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1">
            <a:extLst>
              <a:ext uri="{FF2B5EF4-FFF2-40B4-BE49-F238E27FC236}">
                <a16:creationId xmlns:a16="http://schemas.microsoft.com/office/drawing/2014/main" id="{C49A6B4C-AE22-AC91-ED06-9A79A7D215B1}"/>
              </a:ext>
            </a:extLst>
          </p:cNvPr>
          <p:cNvSpPr txBox="1"/>
          <p:nvPr/>
        </p:nvSpPr>
        <p:spPr>
          <a:xfrm>
            <a:off x="682825" y="741739"/>
            <a:ext cx="7778100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sz="1600" dirty="0"/>
              <a:t>Screenshot and paste below the set Ad Level Budget of SGD 20.00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09749704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461</Words>
  <Application>Microsoft Office PowerPoint</Application>
  <PresentationFormat>On-screen Show (16:9)</PresentationFormat>
  <Paragraphs>44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Simple Light</vt:lpstr>
      <vt:lpstr>DM2004 Online Advertising and Analytics  </vt:lpstr>
      <vt:lpstr>Campaign Level Activity 1/7</vt:lpstr>
      <vt:lpstr>Campaign Level Activity 2/7</vt:lpstr>
      <vt:lpstr>Campaign Level Activity 3/7</vt:lpstr>
      <vt:lpstr>Campaign Level Activity 4/7</vt:lpstr>
      <vt:lpstr>Campaign Level Activity 5/7</vt:lpstr>
      <vt:lpstr>Campaign Level Activity 6/7</vt:lpstr>
      <vt:lpstr>Campaign Level Activity 6/7</vt:lpstr>
      <vt:lpstr>Campaign Level Activity 7/7</vt:lpstr>
      <vt:lpstr>Ad Group Level Activity 1/7</vt:lpstr>
      <vt:lpstr>Ad Group Level Activity 2/7</vt:lpstr>
      <vt:lpstr>Ad Group Level Activity 3/7</vt:lpstr>
      <vt:lpstr>Ad Group Level Activity 4/7</vt:lpstr>
      <vt:lpstr>Ad Group Level Activity 5/7</vt:lpstr>
      <vt:lpstr>Ad Group Level Activity 6/7</vt:lpstr>
      <vt:lpstr>Ad Group Level Activity 7/7</vt:lpstr>
      <vt:lpstr>Ad Level Activity 1/4</vt:lpstr>
      <vt:lpstr>Ad Level Activity 2/4</vt:lpstr>
      <vt:lpstr>Ad Level Activity 3/4</vt:lpstr>
      <vt:lpstr>Ad Level Activity 4/4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Mackie Soque</dc:creator>
  <cp:lastModifiedBy>Marie Chris Soque</cp:lastModifiedBy>
  <cp:revision>28</cp:revision>
  <dcterms:modified xsi:type="dcterms:W3CDTF">2026-02-24T02:01:07Z</dcterms:modified>
</cp:coreProperties>
</file>